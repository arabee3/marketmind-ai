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5f44266cc74072" /><Relationship Type="http://schemas.openxmlformats.org/officeDocument/2006/relationships/extended-properties" Target="/docProps/app.xml" Id="R24e848b215294c6c" /><Relationship Type="http://schemas.openxmlformats.org/officeDocument/2006/relationships/officeDocument" Target="/ppt/presentation.xml" Id="R20986916b1b149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04b3bb90a94f4b"/>
  </p:sldMasterIdLst>
  <p:notesMasterIdLst>
    <p:notesMasterId xmlns:r="http://schemas.openxmlformats.org/officeDocument/2006/relationships" r:id="R141395adc273456b"/>
  </p:notesMasterIdLst>
  <p:sldIdLst>
    <p:sldId xmlns:r="http://schemas.openxmlformats.org/officeDocument/2006/relationships" id="256" r:id="R10500a438d9b465d"/>
    <p:sldId xmlns:r="http://schemas.openxmlformats.org/officeDocument/2006/relationships" id="257" r:id="R46824a2e5c8e48fe"/>
    <p:sldId xmlns:r="http://schemas.openxmlformats.org/officeDocument/2006/relationships" id="258" r:id="Rfcbb189a43eb447d"/>
    <p:sldId xmlns:r="http://schemas.openxmlformats.org/officeDocument/2006/relationships" id="259" r:id="R9d9eb9c1630e483b"/>
    <p:sldId xmlns:r="http://schemas.openxmlformats.org/officeDocument/2006/relationships" id="260" r:id="R7134cc23cd9b46c7"/>
    <p:sldId xmlns:r="http://schemas.openxmlformats.org/officeDocument/2006/relationships" id="261" r:id="R6aab08b9e35646fc"/>
    <p:sldId xmlns:r="http://schemas.openxmlformats.org/officeDocument/2006/relationships" id="262" r:id="R7787599d6af042fb"/>
    <p:sldId xmlns:r="http://schemas.openxmlformats.org/officeDocument/2006/relationships" id="263" r:id="R1dc718f75bc8446b"/>
    <p:sldId xmlns:r="http://schemas.openxmlformats.org/officeDocument/2006/relationships" id="264" r:id="Rc74b64005d8c40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176a244a384e96" /><Relationship Type="http://schemas.openxmlformats.org/officeDocument/2006/relationships/slideMaster" Target="/ppt/slideMasters/slideMaster1.xml" Id="R3804b3bb90a94f4b" /><Relationship Type="http://schemas.openxmlformats.org/officeDocument/2006/relationships/notesMaster" Target="/ppt/notesMasters/notesMaster1.xml" Id="R141395adc273456b" /><Relationship Type="http://schemas.openxmlformats.org/officeDocument/2006/relationships/presProps" Target="/ppt/presProps.xml" Id="R18e642d0263a4fcd" /><Relationship Type="http://schemas.openxmlformats.org/officeDocument/2006/relationships/tableStyles" Target="/ppt/tableStyles.xml" Id="R2193d35966df4f77" /><Relationship Type="http://schemas.openxmlformats.org/officeDocument/2006/relationships/slide" Target="/ppt/slides/slide1.xml" Id="R10500a438d9b465d" /><Relationship Type="http://schemas.openxmlformats.org/officeDocument/2006/relationships/slide" Target="/ppt/slides/slide2.xml" Id="R46824a2e5c8e48fe" /><Relationship Type="http://schemas.openxmlformats.org/officeDocument/2006/relationships/slide" Target="/ppt/slides/slide3.xml" Id="Rfcbb189a43eb447d" /><Relationship Type="http://schemas.openxmlformats.org/officeDocument/2006/relationships/slide" Target="/ppt/slides/slide4.xml" Id="R9d9eb9c1630e483b" /><Relationship Type="http://schemas.openxmlformats.org/officeDocument/2006/relationships/slide" Target="/ppt/slides/slide5.xml" Id="R7134cc23cd9b46c7" /><Relationship Type="http://schemas.openxmlformats.org/officeDocument/2006/relationships/slide" Target="/ppt/slides/slide6.xml" Id="R6aab08b9e35646fc" /><Relationship Type="http://schemas.openxmlformats.org/officeDocument/2006/relationships/slide" Target="/ppt/slides/slide7.xml" Id="R7787599d6af042fb" /><Relationship Type="http://schemas.openxmlformats.org/officeDocument/2006/relationships/slide" Target="/ppt/slides/slide8.xml" Id="R1dc718f75bc8446b" /><Relationship Type="http://schemas.openxmlformats.org/officeDocument/2006/relationships/slide" Target="/ppt/slides/slide9.xml" Id="Rc74b64005d8c40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91c2f4687c4f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a255631929480a" /><Relationship Type="http://schemas.openxmlformats.org/officeDocument/2006/relationships/notesMaster" Target="/ppt/notesMasters/notesMaster1.xml" Id="R0786eb970af942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acd912e5584a7b" /><Relationship Type="http://schemas.openxmlformats.org/officeDocument/2006/relationships/notesMaster" Target="/ppt/notesMasters/notesMaster1.xml" Id="R4beec2beb9294b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68531ea5014209" /><Relationship Type="http://schemas.openxmlformats.org/officeDocument/2006/relationships/notesMaster" Target="/ppt/notesMasters/notesMaster1.xml" Id="Rc1aa17bb5f154a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412868d5424b95" /><Relationship Type="http://schemas.openxmlformats.org/officeDocument/2006/relationships/notesMaster" Target="/ppt/notesMasters/notesMaster1.xml" Id="R6c7b2102c43f4f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21e32c4aa046ca" /><Relationship Type="http://schemas.openxmlformats.org/officeDocument/2006/relationships/notesMaster" Target="/ppt/notesMasters/notesMaster1.xml" Id="Rb9ff146beee74c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d808cab034424d" /><Relationship Type="http://schemas.openxmlformats.org/officeDocument/2006/relationships/notesMaster" Target="/ppt/notesMasters/notesMaster1.xml" Id="Ra2d56945aa6046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4adaffa4e34fbe" /><Relationship Type="http://schemas.openxmlformats.org/officeDocument/2006/relationships/notesMaster" Target="/ppt/notesMasters/notesMaster1.xml" Id="Rbc06a956ec7244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a3423df0904c8a" /><Relationship Type="http://schemas.openxmlformats.org/officeDocument/2006/relationships/notesMaster" Target="/ppt/notesMasters/notesMaster1.xml" Id="Re731a69cfa2f43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6f8ed381f3462d" /><Relationship Type="http://schemas.openxmlformats.org/officeDocument/2006/relationships/notesMaster" Target="/ppt/notesMasters/notesMaster1.xml" Id="R56645627d6eb47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keep the explanation in plain language and emphasize the safety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Docs/planning/08_AGENTIC_ORCHESTRATION_IMPLEMENTATION_PLAN.md</a:t>
            </a:r>
          </a:p>
          <a:p xmlns:a="http://schemas.openxmlformats.org/drawingml/2006/main">
            <a:r>
              <a:t>- Docs/planning/sprint-4/STRATEGY_AGENT_AND_CURATED_RAG_ARCHITECTURE.md</a:t>
            </a:r>
          </a:p>
          <a:p xmlns:a="http://schemas.openxmlformats.org/drawingml/2006/main">
            <a:r>
              <a:t>- No external visual assets; all visuals are native editable PowerPoint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keep the explanation in plain language and emphasize the safety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Docs/planning/08_AGENTIC_ORCHESTRATION_IMPLEMENTATION_PLAN.md, sections 2 and 3</a:t>
            </a:r>
          </a:p>
          <a:p xmlns:a="http://schemas.openxmlformats.org/drawingml/2006/main">
            <a:r>
              <a:t>- Docs/planning/sprint-4/STRATEGY_AGENT_AND_CURATED_RAG_ARCHITECTURE.md, sections 1–3</a:t>
            </a:r>
          </a:p>
          <a:p xmlns:a="http://schemas.openxmlformats.org/drawingml/2006/main">
            <a:r>
              <a:t>- No external visual assets; all visuals are native editable PowerPoint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keep the explanation in plain language and emphasize the safety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Docs/planning/08_AGENTIC_ORCHESTRATION_IMPLEMENTATION_PLAN.md, sections 2, 5, 13, and 15</a:t>
            </a:r>
          </a:p>
          <a:p xmlns:a="http://schemas.openxmlformats.org/drawingml/2006/main">
            <a:r>
              <a:t>- Docs/planning/AGENTIC_ORCHESTRATION_DEMO_EVIDENCE.md (issue #161 work branch)</a:t>
            </a:r>
          </a:p>
          <a:p xmlns:a="http://schemas.openxmlformats.org/drawingml/2006/main">
            <a:r>
              <a:t>- No external visual assets; all visuals are native editable PowerPoint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keep the explanation in plain language and emphasize the safety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Docs/planning/08_AGENTIC_ORCHESTRATION_IMPLEMENTATION_PLAN.md, phases 0–5</a:t>
            </a:r>
          </a:p>
          <a:p xmlns:a="http://schemas.openxmlformats.org/drawingml/2006/main">
            <a:r>
              <a:t>- Docs/planning/AGENTIC_ORCHESTRATION_PHASE5_RUNBOOK.md</a:t>
            </a:r>
          </a:p>
          <a:p xmlns:a="http://schemas.openxmlformats.org/drawingml/2006/main">
            <a:r>
              <a:t>- No external visual assets; all visuals are native editable PowerPoint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keep the explanation in plain language and emphasize the safety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Docs/planning/sprint-4/STRATEGY_AGENT_AND_CURATED_RAG_ARCHITECTURE.md, sections 1–3, 8–12</a:t>
            </a:r>
          </a:p>
          <a:p xmlns:a="http://schemas.openxmlformats.org/drawingml/2006/main">
            <a:r>
              <a:t>- services/ai/app/rag/retrieval_service.py and services/ai/app/rag/config.py</a:t>
            </a:r>
          </a:p>
          <a:p xmlns:a="http://schemas.openxmlformats.org/drawingml/2006/main">
            <a:r>
              <a:t>- No external visual assets; all visuals are native editable PowerPoint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keep the explanation in plain language and emphasize the safety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Docs/planning/09_RAG_CHECKLIST_CLOSEOUT_IMPLEMENTATION_PLAN.md (issue #163 closeout branch)</a:t>
            </a:r>
          </a:p>
          <a:p xmlns:a="http://schemas.openxmlformats.org/drawingml/2006/main">
            <a:r>
              <a:t>- Docs/marketing-knowledge/LIVE_READINESS.md (latest RAG replay)</a:t>
            </a:r>
          </a:p>
          <a:p xmlns:a="http://schemas.openxmlformats.org/drawingml/2006/main">
            <a:r>
              <a:t>- Commit ec6c6ee: Make MMR the default RAG selector</a:t>
            </a:r>
          </a:p>
          <a:p xmlns:a="http://schemas.openxmlformats.org/drawingml/2006/main">
            <a:r>
              <a:t>- No external visual assets; all visuals are native editable PowerPoint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keep the explanation in plain language and emphasize the safety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Docs/planning/08_AGENTIC_ORCHESTRATION_IMPLEMENTATION_PLAN.md, non-regression contract and rollout order</a:t>
            </a:r>
          </a:p>
          <a:p xmlns:a="http://schemas.openxmlformats.org/drawingml/2006/main">
            <a:r>
              <a:t>- Docs/planning/AGENTIC_ORCHESTRATION_PHASE5_RUNBOOK.md</a:t>
            </a:r>
          </a:p>
          <a:p xmlns:a="http://schemas.openxmlformats.org/drawingml/2006/main">
            <a:r>
              <a:t>- Docs/planning/AGENTIC_ORCHESTRATION_DEMO_EVIDENCE.md (issue #161 work branch)</a:t>
            </a:r>
          </a:p>
          <a:p xmlns:a="http://schemas.openxmlformats.org/drawingml/2006/main">
            <a:r>
              <a:t>- No external visual assets; all visuals are native editable PowerPoint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keep the explanation in plain language and emphasize the safety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services/ai/.env.example and apps/api/.env.example</a:t>
            </a:r>
          </a:p>
          <a:p xmlns:a="http://schemas.openxmlformats.org/drawingml/2006/main">
            <a:r>
              <a:t>- Docs/planning/AGENTIC_ORCHESTRATION_PHASE5_RUNBOOK.md</a:t>
            </a:r>
          </a:p>
          <a:p xmlns:a="http://schemas.openxmlformats.org/drawingml/2006/main">
            <a:r>
              <a:t>- Docs/marketing-knowledge/LIVE_READINESS.md (live RAG configuration)</a:t>
            </a:r>
          </a:p>
          <a:p xmlns:a="http://schemas.openxmlformats.org/drawingml/2006/main">
            <a:r>
              <a:t>- No external visual assets; all visuals are native editable PowerPoint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keep the explanation in plain language and emphasize the safety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Docs/planning/08_AGENTIC_ORCHESTRATION_IMPLEMENTATION_PLAN.md</a:t>
            </a:r>
          </a:p>
          <a:p xmlns:a="http://schemas.openxmlformats.org/drawingml/2006/main">
            <a:r>
              <a:t>- Docs/planning/sprint-4/STRATEGY_AGENT_AND_CURATED_RAG_ARCHITECTURE.md</a:t>
            </a:r>
          </a:p>
          <a:p xmlns:a="http://schemas.openxmlformats.org/drawingml/2006/main">
            <a:r>
              <a:t>- No external visual assets; all visuals are native editable PowerPoint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b3c1ee2f6043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afd477c6d94d12" /><Relationship Type="http://schemas.openxmlformats.org/officeDocument/2006/relationships/slideLayout" Target="/ppt/slideLayouts/slideLayout1.xml" Id="Rd3f90c14938b4f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f90c14938b4f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2e6f17744432f" /><Relationship Type="http://schemas.openxmlformats.org/officeDocument/2006/relationships/notesSlide" Target="/ppt/notesSlides/notesSlide1.xml" Id="Rcb5960e691684e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1260b10814677" /><Relationship Type="http://schemas.openxmlformats.org/officeDocument/2006/relationships/notesSlide" Target="/ppt/notesSlides/notesSlide2.xml" Id="R4d0b37e7605b47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0a1b343894d0a" /><Relationship Type="http://schemas.openxmlformats.org/officeDocument/2006/relationships/notesSlide" Target="/ppt/notesSlides/notesSlide3.xml" Id="R31ff15ac590a47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5eff9ca804ceb" /><Relationship Type="http://schemas.openxmlformats.org/officeDocument/2006/relationships/notesSlide" Target="/ppt/notesSlides/notesSlide4.xml" Id="Rf9600ee5ea7a4e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f6c6e93cf46e8" /><Relationship Type="http://schemas.openxmlformats.org/officeDocument/2006/relationships/notesSlide" Target="/ppt/notesSlides/notesSlide5.xml" Id="R0f9cfabd7fd546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fd9b8d4dd409e" /><Relationship Type="http://schemas.openxmlformats.org/officeDocument/2006/relationships/notesSlide" Target="/ppt/notesSlides/notesSlide6.xml" Id="Rbb93277ad1b141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2252faa0547c8" /><Relationship Type="http://schemas.openxmlformats.org/officeDocument/2006/relationships/notesSlide" Target="/ppt/notesSlides/notesSlide7.xml" Id="Rcda0d9a9475045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62658ff17437c" /><Relationship Type="http://schemas.openxmlformats.org/officeDocument/2006/relationships/notesSlide" Target="/ppt/notesSlides/notesSlide8.xml" Id="R22993389840740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e8dface91405b" /><Relationship Type="http://schemas.openxmlformats.org/officeDocument/2006/relationships/notesSlide" Target="/ppt/notesSlides/notesSlide9.xml" Id="R6a128e2a612248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62510-6B01-4661-AB31-4E85C108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B6F71"/>
                </a:solidFill>
              </a:defRPr>
            </a:pPr>
            <a:r>
              <a:rPr sz="975" b="1" i="0">
                <a:solidFill>
                  <a:srgbClr val="0B6F71"/>
                </a:solidFill>
              </a:rPr>
              <a:t>ITI CAPSTONE | MARKETMIND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BEBC0-3841-4AB2-85CE-CD8436F7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102A43"/>
                </a:solidFill>
              </a:defRPr>
            </a:pPr>
            <a:r>
              <a:rPr sz="5100" b="1" i="0">
                <a:solidFill>
                  <a:srgbClr val="102A43"/>
                </a:solidFill>
              </a:rPr>
              <a:t>Agentic AI</a:t>
            </a:r>
          </a:p>
          <a:p xmlns:a="http://schemas.openxmlformats.org/drawingml/2006/main">
            <a:pPr algn="l">
              <a:defRPr sz="5100" b="1" i="0">
                <a:solidFill>
                  <a:srgbClr val="102A43"/>
                </a:solidFill>
              </a:defRPr>
            </a:pPr>
            <a:r>
              <a:rPr sz="5100" b="1" i="0">
                <a:solidFill>
                  <a:srgbClr val="102A43"/>
                </a:solidFill>
              </a:rPr>
              <a:t>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65F08-C150-4E9F-87FB-5C15A352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2606D"/>
                </a:solidFill>
              </a:defRPr>
            </a:pPr>
            <a:r>
              <a:rPr sz="1875" b="0" i="0">
                <a:solidFill>
                  <a:srgbClr val="52606D"/>
                </a:solidFill>
              </a:rPr>
              <a:t>A simple explanation of what changed,</a:t>
            </a:r>
          </a:p>
          <a:p xmlns:a="http://schemas.openxmlformats.org/drawingml/2006/main">
            <a:pPr algn="l">
              <a:defRPr sz="1875" b="0" i="0">
                <a:solidFill>
                  <a:srgbClr val="52606D"/>
                </a:solidFill>
              </a:defRPr>
            </a:pPr>
            <a:r>
              <a:rPr sz="1875" b="0" i="0">
                <a:solidFill>
                  <a:srgbClr val="52606D"/>
                </a:solidFill>
              </a:rPr>
              <a:t>how it stays safe, and how to test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1B2BF-B100-4ADE-BDBD-9B263932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90600"/>
            <a:ext cx="371475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71"/>
          </a:solidFill>
          <a:ln xmlns:a="http://schemas.openxmlformats.org/drawingml/2006/main" w="9525">
            <a:solidFill>
              <a:srgbClr val="0B6F7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2AE89-4ABD-4AD5-8A0A-F736C66B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81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COORDINATE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45D07-8544-4592-A00F-C2981592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193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AGENTIC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784EB-20C1-449A-9B3F-E0D0CF26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5750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BA8CF-AB39-4770-B87C-39B986CB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52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GROUND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092F4-4A6A-4314-9229-55874E88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90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RAG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E26749-BEAD-410C-9BD2-74B9CCA5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Prepared for review • 7 August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9B009-DD6A-45F4-8285-304CBF2D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06D"/>
                </a:solidFill>
              </a:defRPr>
            </a:pPr>
            <a:r>
              <a:rPr sz="825" b="1" i="0">
                <a:solidFill>
                  <a:srgbClr val="52606D"/>
                </a:solidFill>
              </a:rPr>
              <a:t>MARKETMIND AI  •  ITI CAPSTONE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BA3C5-E32A-4294-95AB-743B917A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2606D"/>
                </a:solidFill>
              </a:defRPr>
            </a:pPr>
            <a:r>
              <a:rPr sz="825" b="0" i="0">
                <a:solidFill>
                  <a:srgbClr val="52606D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049079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CB36BB-2148-4F84-B6F8-69CFEA33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B6F71"/>
                </a:solidFill>
              </a:defRPr>
            </a:pPr>
            <a:r>
              <a:rPr sz="975" b="1" i="0">
                <a:solidFill>
                  <a:srgbClr val="0B6F71"/>
                </a:solidFill>
              </a:rPr>
              <a:t>THE TWO IDEAS SOLVE DIFFERENT PROBLEMS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BEEFC-D382-4076-BF3C-36A46EE5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A43"/>
                </a:solidFill>
              </a:defRPr>
            </a:pPr>
            <a:r>
              <a:rPr sz="3000" b="1" i="0">
                <a:solidFill>
                  <a:srgbClr val="102A43"/>
                </a:solidFill>
              </a:rPr>
              <a:t>Agentic AI coordinates; RAG grounds.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D093B-366E-4FC3-9D41-D878B580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They work together, but they are not the same feature.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66D30-6602-414F-9E0C-A327516C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857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2"/>
          </a:solidFill>
          <a:ln xmlns:a="http://schemas.openxmlformats.org/drawingml/2006/main" w="9525">
            <a:solidFill>
              <a:srgbClr val="E8F2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E7AB7-F046-46A7-8BC8-0B0E86BC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6F71"/>
                </a:solidFill>
              </a:defRPr>
            </a:pPr>
            <a:r>
              <a:rPr sz="1725" b="1" i="0">
                <a:solidFill>
                  <a:srgbClr val="0B6F71"/>
                </a:solidFill>
              </a:rPr>
              <a:t>AGENTIC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97B0A-00DD-430E-93A9-3A8C938F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476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</a:defRPr>
            </a:pPr>
            <a:r>
              <a:rPr sz="1350" b="0" i="0">
                <a:solidFill>
                  <a:srgbClr val="102A43"/>
                </a:solidFill>
              </a:rPr>
              <a:t>A project manager for the AI specialists.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</a:defRPr>
            </a:pPr>
            <a:r>
              <a:rPr sz="1350" b="0" i="0">
                <a:solidFill>
                  <a:srgbClr val="102A43"/>
                </a:solidFill>
              </a:rPr>
              <a:t>It chooses the next safe step and pauses for the owner.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A82CE-4255-4E7D-A205-9AF05602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00250"/>
            <a:ext cx="4857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4AD12-F385-4C2E-9174-DD206826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526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46BFD"/>
                </a:solidFill>
              </a:defRPr>
            </a:pPr>
            <a:r>
              <a:rPr sz="1725" b="1" i="0">
                <a:solidFill>
                  <a:srgbClr val="246BFD"/>
                </a:solidFill>
              </a:rPr>
              <a:t>RAG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4D484C-F9BD-4B9A-8849-8397C7F1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14600"/>
            <a:ext cx="4476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</a:defRPr>
            </a:pPr>
            <a:r>
              <a:rPr sz="1350" b="0" i="0">
                <a:solidFill>
                  <a:srgbClr val="102A43"/>
                </a:solidFill>
              </a:rPr>
              <a:t>A trusted search step before Strategy writes.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</a:defRPr>
            </a:pPr>
            <a:r>
              <a:rPr sz="1350" b="0" i="0">
                <a:solidFill>
                  <a:srgbClr val="102A43"/>
                </a:solidFill>
              </a:rPr>
              <a:t>It supplies approved guidance and citations.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B6317-C3CE-433B-83D5-2B74BBD4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67025"/>
            <a:ext cx="9144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6F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92A3E-8965-4B1B-BAD4-FEE2FB58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816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02A43"/>
                </a:solidFill>
              </a:defRPr>
            </a:pPr>
            <a:r>
              <a:rPr sz="1950" b="1" i="0">
                <a:solidFill>
                  <a:srgbClr val="102A43"/>
                </a:solidFill>
              </a:rPr>
              <a:t>Together: a recoverable workflow with grounded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6046BC-CE29-4190-860E-B3D1B311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06D"/>
                </a:solidFill>
              </a:defRPr>
            </a:pPr>
            <a:r>
              <a:rPr sz="825" b="1" i="0">
                <a:solidFill>
                  <a:srgbClr val="52606D"/>
                </a:solidFill>
              </a:rPr>
              <a:t>MARKETMIND AI  •  ITI CAPSTONE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4019C7-D359-45FD-A1C4-869D9A55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2606D"/>
                </a:solidFill>
              </a:defRPr>
            </a:pPr>
            <a:r>
              <a:rPr sz="825" b="0" i="0">
                <a:solidFill>
                  <a:srgbClr val="52606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87880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86B193-B000-4F3D-9992-4F76C5EB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B6F71"/>
                </a:solidFill>
              </a:defRPr>
            </a:pPr>
            <a:r>
              <a:rPr sz="975" b="1" i="0">
                <a:solidFill>
                  <a:srgbClr val="0B6F71"/>
                </a:solidFill>
              </a:rPr>
              <a:t>AGENTIC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A0543-661C-48CC-8F5F-052C6D1C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A43"/>
                </a:solidFill>
              </a:defRPr>
            </a:pPr>
            <a:r>
              <a:rPr sz="3000" b="1" i="0">
                <a:solidFill>
                  <a:srgbClr val="102A43"/>
                </a:solidFill>
              </a:rPr>
              <a:t>The orchestrator is a traffic controller.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144A7-80CD-4DFB-9264-1F4020AD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It reuses the specialists and keeps the legal order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DA20E-3985-4F74-A1B7-22B6C4BE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133725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B9917-05BB-4A77-A3B0-ADA2EEE4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33725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EA119-0528-4B63-BAC7-5D52CB78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133725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575D6-6241-4CCF-8330-98CA9B46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33725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8E8E9-3045-420A-983F-13CC4F1E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952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2"/>
          </a:solidFill>
          <a:ln xmlns:a="http://schemas.openxmlformats.org/drawingml/2006/main" w="9525">
            <a:solidFill>
              <a:srgbClr val="E8F2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57880-50A9-449B-AECF-2C0378A9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6F71"/>
                </a:solidFill>
              </a:defRPr>
            </a:pPr>
            <a:r>
              <a:rPr sz="1425" b="1" i="0">
                <a:solidFill>
                  <a:srgbClr val="0B6F71"/>
                </a:solidFill>
              </a:rPr>
              <a:t>1  RESEARCH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A63E6-89B5-41D6-8BDE-D65CBA55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6478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3 reviewed tools</a:t>
            </a:r>
          </a:p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cited facts + gaps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88CB3-8550-4906-903B-EF9F9F27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67000"/>
            <a:ext cx="1952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107A3-7889-42A2-9DB1-52368597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19400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6F71"/>
                </a:solidFill>
              </a:defRPr>
            </a:pPr>
            <a:r>
              <a:rPr sz="1425" b="1" i="0">
                <a:solidFill>
                  <a:srgbClr val="0B6F71"/>
                </a:solidFill>
              </a:rPr>
              <a:t>2  STRATEGY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452FA-5B3D-4EEF-85FE-059D0450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81350"/>
            <a:ext cx="16478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existing provider</a:t>
            </a:r>
          </a:p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hard validators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E56B3-36B5-4842-A79C-9256E384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67000"/>
            <a:ext cx="1952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FF4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734A17-489B-4F97-9FF7-875BC80A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19400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A15C00"/>
                </a:solidFill>
              </a:defRPr>
            </a:pPr>
            <a:r>
              <a:rPr sz="1425" b="1" i="0">
                <a:solidFill>
                  <a:srgbClr val="A15C00"/>
                </a:solidFill>
              </a:rPr>
              <a:t>OWNER APPROVAL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3D85C5-BC40-4181-8E79-4AF6F859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81350"/>
            <a:ext cx="16478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exact version</a:t>
            </a:r>
          </a:p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approval pause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4744E7-6159-4334-AAB5-6B6A7975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67000"/>
            <a:ext cx="1952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07C5BF-F48E-4BDB-919B-AD443E36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19400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46BFD"/>
                </a:solidFill>
              </a:defRPr>
            </a:pPr>
            <a:r>
              <a:rPr sz="1425" b="1" i="0">
                <a:solidFill>
                  <a:srgbClr val="246BFD"/>
                </a:solidFill>
              </a:rPr>
              <a:t>3  CONTENT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B0D1B7-E923-465F-9F63-982D8166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81350"/>
            <a:ext cx="16478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Week-1 pack</a:t>
            </a:r>
          </a:p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validated + bounded replan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188F8A-7A7B-4BC2-BE5A-9AF7B5BD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67000"/>
            <a:ext cx="1952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FF4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86EB0F-AAD8-4A01-AB8D-EDF2817D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19400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A15C00"/>
                </a:solidFill>
              </a:defRPr>
            </a:pPr>
            <a:r>
              <a:rPr sz="1425" b="1" i="0">
                <a:solidFill>
                  <a:srgbClr val="A15C00"/>
                </a:solidFill>
              </a:rPr>
              <a:t>OWNER 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1D5384-16FF-4AC6-A30C-67DF52B9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81350"/>
            <a:ext cx="16478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exact item</a:t>
            </a:r>
          </a:p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decision pause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9D82CC-DBE6-4D37-82A2-20002708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2A43"/>
                </a:solidFill>
              </a:defRPr>
            </a:pPr>
            <a:r>
              <a:rPr sz="1725" b="1" i="0">
                <a:solidFill>
                  <a:srgbClr val="102A43"/>
                </a:solidFill>
              </a:rPr>
              <a:t>After the second decision: stop. Publishing stays outside the graph.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298C98-FA37-4FF9-BDF4-1CD3CC65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Saved checkpoint = continue after restart  |  idempotency = no duplicates  |  replan = repair only the failing step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86F0EF-2E02-401A-A29F-326C16D0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06D"/>
                </a:solidFill>
              </a:defRPr>
            </a:pPr>
            <a:r>
              <a:rPr sz="825" b="1" i="0">
                <a:solidFill>
                  <a:srgbClr val="52606D"/>
                </a:solidFill>
              </a:rPr>
              <a:t>MARKETMIND AI  •  ITI CAPSTONE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248F1F-D707-485B-BF6F-83A4C1F0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2606D"/>
                </a:solidFill>
              </a:defRPr>
            </a:pPr>
            <a:r>
              <a:rPr sz="825" b="0" i="0">
                <a:solidFill>
                  <a:srgbClr val="52606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157196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523B16-B287-4FAA-8F70-7131D763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B6F71"/>
                </a:solidFill>
              </a:defRPr>
            </a:pPr>
            <a:r>
              <a:rPr sz="975" b="1" i="0">
                <a:solidFill>
                  <a:srgbClr val="0B6F71"/>
                </a:solidFill>
              </a:rPr>
              <a:t>WHAT WAS ADDED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7FE4D-F2F1-4CD7-B01E-3879D335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A43"/>
                </a:solidFill>
              </a:defRPr>
            </a:pPr>
            <a:r>
              <a:rPr sz="3000" b="1" i="0">
                <a:solidFill>
                  <a:srgbClr val="102A43"/>
                </a:solidFill>
              </a:rPr>
              <a:t>We added control around every AI step.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91DE9-748B-439E-8648-68B5E7C3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The work is split into small, testable phases rather than one risky rewrite.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39081-E003-4BA9-BCA1-9D5F6D75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866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71909-3064-45AA-88C7-F1C4CBE3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866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71"/>
          </a:solidFill>
          <a:ln xmlns:a="http://schemas.openxmlformats.org/drawingml/2006/main" w="9525">
            <a:solidFill>
              <a:srgbClr val="0B6F7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DD440-4ABA-49C5-9DC3-C4BF117A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F71"/>
                </a:solidFill>
              </a:defRPr>
            </a:pPr>
            <a:r>
              <a:rPr sz="2250" b="1" i="0">
                <a:solidFill>
                  <a:srgbClr val="0B6F71"/>
                </a:solidFill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F5756-FC4A-4526-A729-F55139B5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Durability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9B932D-B77C-466B-AC8A-632F3210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pause • restart • resume</a:t>
            </a:r>
          </a:p>
          <a:p xmlns:a="http://schemas.openxmlformats.org/drawingml/2006/main">
            <a:pPr algn="l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no duplicate effect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0D6A7-F552-4CCC-B7A5-19DA8529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86000"/>
            <a:ext cx="1866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C2283-7C35-40FE-8889-4E508770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86000"/>
            <a:ext cx="1866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B24CF-E666-4737-92FE-DFB8B7DD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479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46BFD"/>
                </a:solidFill>
              </a:defRPr>
            </a:pPr>
            <a:r>
              <a:rPr sz="2250" b="1" i="0">
                <a:solidFill>
                  <a:srgbClr val="246BFD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5DC75-65D8-4A62-99F1-DE8A4B14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575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Contracts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00B57-EFBD-406A-BF94-438AB0C6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3380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scope • versions</a:t>
            </a:r>
          </a:p>
          <a:p xmlns:a="http://schemas.openxmlformats.org/drawingml/2006/main">
            <a:pPr algn="l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idempotency • lifecycle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555860-80DB-410D-8B6A-503E910E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1866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D52E6E-AD3B-49E0-A7E3-CD6F30D3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1866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71"/>
          </a:solidFill>
          <a:ln xmlns:a="http://schemas.openxmlformats.org/drawingml/2006/main" w="9525">
            <a:solidFill>
              <a:srgbClr val="0B6F7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6D090F-C2FF-451F-891D-10FEAC29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479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F71"/>
                </a:solidFill>
              </a:defRPr>
            </a:pPr>
            <a:r>
              <a:rPr sz="2250" b="1" i="0">
                <a:solidFill>
                  <a:srgbClr val="0B6F71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C4F271-6754-40AC-A5BF-CA64A131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Tools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5614C8-B9C7-4469-AD8A-78F23A48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3380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allow-list • timeout</a:t>
            </a:r>
          </a:p>
          <a:p xmlns:a="http://schemas.openxmlformats.org/drawingml/2006/main">
            <a:pPr algn="l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budget • cited pack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527FB2-C1A3-4E5C-8390-D606CC3A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86000"/>
            <a:ext cx="1866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142F11-2B60-4496-9324-966AD6A8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86000"/>
            <a:ext cx="1866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DACC36-C7FE-42FD-8FBC-8D5FB238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479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46BFD"/>
                </a:solidFill>
              </a:defRPr>
            </a:pPr>
            <a:r>
              <a:rPr sz="2250" b="1" i="0">
                <a:solidFill>
                  <a:srgbClr val="246BFD"/>
                </a:solidFill>
              </a:rPr>
              <a:t>3+4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A98DD8-69ED-43BC-9FBA-EB297AE8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575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Graphs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F0916A-AE02-4C31-8F94-035D100D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3380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Strategy + Content</a:t>
            </a:r>
          </a:p>
          <a:p xmlns:a="http://schemas.openxmlformats.org/drawingml/2006/main">
            <a:pPr algn="l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owner gates + replans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91D853-4489-4860-8B7D-9F854189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86000"/>
            <a:ext cx="1866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6192B5-5D62-48B5-BA18-3B70EE55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86000"/>
            <a:ext cx="1866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71"/>
          </a:solidFill>
          <a:ln xmlns:a="http://schemas.openxmlformats.org/drawingml/2006/main" w="9525">
            <a:solidFill>
              <a:srgbClr val="0B6F7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38EDAF-C155-445B-B42A-C4CDA34B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479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6F71"/>
                </a:solidFill>
              </a:defRPr>
            </a:pPr>
            <a:r>
              <a:rPr sz="2250" b="1" i="0">
                <a:solidFill>
                  <a:srgbClr val="0B6F71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7A3409-77FE-4157-897C-9326AB39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575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1346BA-F919-4041-84A1-BFFF7FDF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3380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trace • evaluation</a:t>
            </a:r>
          </a:p>
          <a:p xmlns:a="http://schemas.openxmlformats.org/drawingml/2006/main">
            <a:pPr algn="l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shadow • rollback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74AF89-DD18-4F48-B849-AD94C424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1970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2"/>
          </a:solidFill>
          <a:ln xmlns:a="http://schemas.openxmlformats.org/drawingml/2006/main" w="9525">
            <a:solidFill>
              <a:srgbClr val="E8F2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608A26-C9B3-415B-8348-033B966A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8162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B6F71"/>
                </a:solidFill>
              </a:defRPr>
            </a:pPr>
            <a:r>
              <a:rPr sz="1725" b="1" i="0">
                <a:solidFill>
                  <a:srgbClr val="0B6F71"/>
                </a:solidFill>
              </a:rPr>
              <a:t>Core tests passed; live worker routing remains deliberately off.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24D9FB-235B-47F1-9802-F5160672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06D"/>
                </a:solidFill>
              </a:defRPr>
            </a:pPr>
            <a:r>
              <a:rPr sz="825" b="1" i="0">
                <a:solidFill>
                  <a:srgbClr val="52606D"/>
                </a:solidFill>
              </a:rPr>
              <a:t>MARKETMIND AI  •  ITI CAPSTONE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725E98-6688-437D-95BA-DA5A7B49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2606D"/>
                </a:solidFill>
              </a:defRPr>
            </a:pPr>
            <a:r>
              <a:rPr sz="825" b="0" i="0">
                <a:solidFill>
                  <a:srgbClr val="52606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558792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C50873-EDEF-45C7-906A-CB1E0148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B6F71"/>
                </a:solidFill>
              </a:defRPr>
            </a:pPr>
            <a:r>
              <a:rPr sz="975" b="1" i="0">
                <a:solidFill>
                  <a:srgbClr val="0B6F71"/>
                </a:solidFill>
              </a:rPr>
              <a:t>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47D52-1C02-4B8D-9E76-318B9C69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A43"/>
                </a:solidFill>
              </a:defRPr>
            </a:pPr>
            <a:r>
              <a:rPr sz="3000" b="1" i="0">
                <a:solidFill>
                  <a:srgbClr val="102A43"/>
                </a:solidFill>
              </a:rPr>
              <a:t>RAG searches trusted guidance before Strategy writes.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75A04-F945-44F7-B5CC-939FBED8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The model receives relevant approved excerpts, not an unfiltered document dump.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0049C-233A-4064-8D64-6C06D261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52750"/>
            <a:ext cx="5715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77C05-B01B-4528-A3BB-A06A0BD1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52750"/>
            <a:ext cx="5715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C7FC1-568F-472E-80B7-079A2DF3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52750"/>
            <a:ext cx="5715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1B38A-E76F-451F-8FCF-1289EE00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952750"/>
            <a:ext cx="5715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DED4C-B2AD-4079-BD5F-C231AEFE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847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2"/>
          </a:solidFill>
          <a:ln xmlns:a="http://schemas.openxmlformats.org/drawingml/2006/main" w="9525">
            <a:solidFill>
              <a:srgbClr val="E8F2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C64C2-A1C3-4F5D-B16B-647BE11D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6F71"/>
                </a:solidFill>
              </a:defRPr>
            </a:pPr>
            <a:r>
              <a:rPr sz="1725" b="1" i="0">
                <a:solidFill>
                  <a:srgbClr val="0B6F71"/>
                </a:solidFill>
              </a:rPr>
              <a:t>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250D1-CEA8-4F57-B178-B7348E97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</a:defRPr>
            </a:pPr>
            <a:r>
              <a:rPr sz="1350" b="0" i="0">
                <a:solidFill>
                  <a:srgbClr val="102A43"/>
                </a:solidFill>
              </a:rPr>
              <a:t>PostgreSQL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</a:defRPr>
            </a:pPr>
            <a:r>
              <a:rPr sz="1350" b="0" i="0">
                <a:solidFill>
                  <a:srgbClr val="102A43"/>
                </a:solidFill>
              </a:rPr>
              <a:t>approved playbooks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147FC-1CA3-4A42-A0AE-EE8F642D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71750"/>
            <a:ext cx="1847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35FBDA-E801-4B3D-B85E-E2B0A7F2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241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46BFD"/>
                </a:solidFill>
              </a:defRPr>
            </a:pPr>
            <a:r>
              <a:rPr sz="1725" b="1" i="0">
                <a:solidFill>
                  <a:srgbClr val="246BFD"/>
                </a:solidFill>
              </a:rPr>
              <a:t>INDEX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6E9D2-7A69-472C-923E-FCF8F1D8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861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</a:defRPr>
            </a:pPr>
            <a:r>
              <a:rPr sz="1350" b="0" i="0">
                <a:solidFill>
                  <a:srgbClr val="102A43"/>
                </a:solidFill>
              </a:rPr>
              <a:t>Qdrant vector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</a:defRPr>
            </a:pPr>
            <a:r>
              <a:rPr sz="1350" b="0" i="0">
                <a:solidFill>
                  <a:srgbClr val="102A43"/>
                </a:solidFill>
              </a:rPr>
              <a:t>rebuildable index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7F7E8-D740-4FC9-A5D9-506F4A8C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71750"/>
            <a:ext cx="1847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1D2EC-05AE-4CDB-B47F-76B6B1FF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241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6F71"/>
                </a:solidFill>
              </a:defRPr>
            </a:pPr>
            <a:r>
              <a:rPr sz="1725" b="1" i="0">
                <a:solidFill>
                  <a:srgbClr val="0B6F71"/>
                </a:solidFill>
              </a:rPr>
              <a:t>SELECT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575E29-A2E7-486F-8CF2-FF6A8018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861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</a:defRPr>
            </a:pPr>
            <a:r>
              <a:rPr sz="1350" b="0" i="0">
                <a:solidFill>
                  <a:srgbClr val="102A43"/>
                </a:solidFill>
              </a:rPr>
              <a:t>approved + current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</a:defRPr>
            </a:pPr>
            <a:r>
              <a:rPr sz="1350" b="0" i="0">
                <a:solidFill>
                  <a:srgbClr val="102A43"/>
                </a:solidFill>
              </a:rPr>
              <a:t>relevant + diverse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DB6270-DDCC-46CC-AFA8-FBBEFEE4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1847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2"/>
          </a:solidFill>
          <a:ln xmlns:a="http://schemas.openxmlformats.org/drawingml/2006/main" w="9525">
            <a:solidFill>
              <a:srgbClr val="E8F2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FD52D1-489A-4607-8C03-7EB848A9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6F71"/>
                </a:solidFill>
              </a:defRPr>
            </a:pPr>
            <a:r>
              <a:rPr sz="1725" b="1" i="0">
                <a:solidFill>
                  <a:srgbClr val="0B6F71"/>
                </a:solidFill>
              </a:rPr>
              <a:t>CITED PACK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D60BCB-0634-4245-86FD-6EF4E54C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861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</a:defRPr>
            </a:pPr>
            <a:r>
              <a:rPr sz="1350" b="0" i="0">
                <a:solidFill>
                  <a:srgbClr val="102A43"/>
                </a:solidFill>
              </a:rPr>
              <a:t>canonical text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</a:defRPr>
            </a:pPr>
            <a:r>
              <a:rPr sz="1350" b="0" i="0">
                <a:solidFill>
                  <a:srgbClr val="102A43"/>
                </a:solidFill>
              </a:rPr>
              <a:t>source + gaps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36CC80-E6A7-440F-AD18-A1023D58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571750"/>
            <a:ext cx="13811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3643F8-7915-4A64-8397-5BCC8D2F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7241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46BFD"/>
                </a:solidFill>
              </a:defRPr>
            </a:pPr>
            <a:r>
              <a:rPr sz="1725" b="1" i="0">
                <a:solidFill>
                  <a:srgbClr val="246BFD"/>
                </a:solidFill>
              </a:rPr>
              <a:t>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6903E6-4B8F-468A-A2FE-42AE7404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086100"/>
            <a:ext cx="1000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</a:defRPr>
            </a:pPr>
            <a:r>
              <a:rPr sz="1350" b="0" i="0">
                <a:solidFill>
                  <a:srgbClr val="102A43"/>
                </a:solidFill>
              </a:rPr>
              <a:t>grounded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</a:defRPr>
            </a:pPr>
            <a:r>
              <a:rPr sz="1350" b="0" i="0">
                <a:solidFill>
                  <a:srgbClr val="102A43"/>
                </a:solidFill>
              </a:rPr>
              <a:t>validated plan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0AEC1B-FD60-48A7-90B5-EE42D4A6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The full Business Profile stays in PostgreSQL and is passed directly to Strategy; it is not embedded into shared Qdrant.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4E6F60-BDD2-420F-B348-3808EEB3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959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If useful approved knowledge is missing, the system exposes a KnowledgeGap instead of guessing.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62BB2C-8FAE-49C2-ADAA-11580AE9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06D"/>
                </a:solidFill>
              </a:defRPr>
            </a:pPr>
            <a:r>
              <a:rPr sz="825" b="1" i="0">
                <a:solidFill>
                  <a:srgbClr val="52606D"/>
                </a:solidFill>
              </a:rPr>
              <a:t>MARKETMIND AI  •  ITI CAPSTONE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46A7E7-AD9F-4B31-B2D8-40174B92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2606D"/>
                </a:solidFill>
              </a:defRPr>
            </a:pPr>
            <a:r>
              <a:rPr sz="825" b="0" i="0">
                <a:solidFill>
                  <a:srgbClr val="52606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28043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0C5DEA-0CE9-4A94-9FD5-DCC2107B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B6F71"/>
                </a:solidFill>
              </a:defRPr>
            </a:pPr>
            <a:r>
              <a:rPr sz="975" b="1" i="0">
                <a:solidFill>
                  <a:srgbClr val="0B6F71"/>
                </a:solidFill>
              </a:rPr>
              <a:t>RAG EDIT: MMR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8498F-CF4B-4503-BAA9-F91B6FF2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A43"/>
                </a:solidFill>
              </a:defRPr>
            </a:pPr>
            <a:r>
              <a:rPr sz="3000" b="1" i="0">
                <a:solidFill>
                  <a:srgbClr val="102A43"/>
                </a:solidFill>
              </a:rPr>
              <a:t>MMR keeps relevant evidence, without repeated advice.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26519-63E5-4E2C-8AE7-5FF04D64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First find relevant candidates; then choose a more complementary set.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C2147-097E-41AA-BEBB-7660FBDD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52606D"/>
                </a:solidFill>
              </a:defRPr>
            </a:pPr>
            <a:r>
              <a:rPr sz="1650" b="1" i="0">
                <a:solidFill>
                  <a:srgbClr val="52606D"/>
                </a:solidFill>
              </a:rPr>
              <a:t>Dense semantic candidates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9A652-DCD7-4639-BDD5-25BE25D8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8CB9F-9F59-469B-A272-0DA570F1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framework diagnosis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69D17-F9C8-4985-A562-DEA00962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C8AE3-34E4-4CF0-9485-CF2D024C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861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same framework again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CA217-1B24-44D8-A18D-93F88555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E37395-08BB-4498-A695-F5EAF242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channel guidance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748DE-1682-4210-B505-B5EC0C8A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39536-FCC4-4285-959C-889221C9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measurement / KPI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B34D6F-E974-4862-8679-0C111538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19450"/>
            <a:ext cx="1047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6F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6EDEBC-F7EF-4436-9240-731B8D42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6F71"/>
                </a:solidFill>
              </a:defRPr>
            </a:pPr>
            <a:r>
              <a:rPr sz="1650" b="1" i="0">
                <a:solidFill>
                  <a:srgbClr val="0B6F71"/>
                </a:solidFill>
              </a:rPr>
              <a:t>MMR selection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48A6C-A922-44CB-97D8-E4313F10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25717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2"/>
          </a:solidFill>
          <a:ln xmlns:a="http://schemas.openxmlformats.org/drawingml/2006/main" w="9525">
            <a:solidFill>
              <a:srgbClr val="E8F2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EBCA1-1351-4B8E-8705-FF418EB3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6F71"/>
                </a:solidFill>
              </a:defRPr>
            </a:pPr>
            <a:r>
              <a:rPr sz="2100" b="1" i="0">
                <a:solidFill>
                  <a:srgbClr val="0B6F71"/>
                </a:solidFill>
              </a:rPr>
              <a:t>KEEP</a:t>
            </a:r>
          </a:p>
          <a:p xmlns:a="http://schemas.openxmlformats.org/drawingml/2006/main">
            <a:pPr algn="ctr">
              <a:defRPr sz="2100" b="1" i="0">
                <a:solidFill>
                  <a:srgbClr val="0B6F71"/>
                </a:solidFill>
              </a:defRPr>
            </a:pPr>
            <a:r>
              <a:rPr sz="2100" b="1" i="0">
                <a:solidFill>
                  <a:srgbClr val="0B6F71"/>
                </a:solidFill>
              </a:rPr>
              <a:t>relevance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6C952-CF19-411A-9273-B1CCEF34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33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02A43"/>
                </a:solidFill>
              </a:defRPr>
            </a:pPr>
            <a:r>
              <a:rPr sz="2550" b="1" i="0">
                <a:solidFill>
                  <a:srgbClr val="102A43"/>
                </a:solidFill>
              </a:rPr>
              <a:t>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51518C-5E77-445C-B3AE-3452B732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46BFD"/>
                </a:solidFill>
              </a:defRPr>
            </a:pPr>
            <a:r>
              <a:rPr sz="2100" b="1" i="0">
                <a:solidFill>
                  <a:srgbClr val="246BFD"/>
                </a:solidFill>
              </a:rPr>
              <a:t>ADD</a:t>
            </a:r>
          </a:p>
          <a:p xmlns:a="http://schemas.openxmlformats.org/drawingml/2006/main">
            <a:pPr algn="ctr">
              <a:defRPr sz="2100" b="1" i="0">
                <a:solidFill>
                  <a:srgbClr val="246BFD"/>
                </a:solidFill>
              </a:defRPr>
            </a:pPr>
            <a:r>
              <a:rPr sz="2100" b="1" i="0">
                <a:solidFill>
                  <a:srgbClr val="246BFD"/>
                </a:solidFill>
              </a:rPr>
              <a:t>diversity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BA7EEE-81A3-4FC0-872A-A9FCDE87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19450"/>
            <a:ext cx="1047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C213AE-A969-4451-9717-5FD97C6F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809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46BFD"/>
                </a:solidFill>
              </a:defRPr>
            </a:pPr>
            <a:r>
              <a:rPr sz="1650" b="1" i="0">
                <a:solidFill>
                  <a:srgbClr val="246BFD"/>
                </a:solidFill>
              </a:rPr>
              <a:t>Final cited pack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50092B-35FF-4512-98F6-DD64EACD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22860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6AE3A4-5159-4B2D-A61D-8DC36E3A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framework</a:t>
            </a:r>
          </a:p>
          <a:p xmlns:a="http://schemas.openxmlformats.org/drawingml/2006/main">
            <a:pPr algn="ctr"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channel</a:t>
            </a:r>
          </a:p>
          <a:p xmlns:a="http://schemas.openxmlformats.org/drawingml/2006/main">
            <a:pPr algn="ctr"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measurement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5013EF-0337-4026-A5AF-B430AF44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FF4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C8910C-8C77-43E2-91AB-BDDD3399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245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A15C00"/>
                </a:solidFill>
              </a:defRPr>
            </a:pPr>
            <a:r>
              <a:rPr sz="1350" b="1" i="0">
                <a:solidFill>
                  <a:srgbClr val="A15C00"/>
                </a:solidFill>
              </a:rPr>
              <a:t>Latest RAG replay: 32 approved entries • 64 chunks • Arabic + English • Gemini 768-dimension embeddings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29DC17-736C-4C68-82D0-3ACBEB7F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06D"/>
                </a:solidFill>
              </a:defRPr>
            </a:pPr>
            <a:r>
              <a:rPr sz="825" b="1" i="0">
                <a:solidFill>
                  <a:srgbClr val="52606D"/>
                </a:solidFill>
              </a:rPr>
              <a:t>MARKETMIND AI  •  ITI CAPSTONE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B0FCB5-4027-4BA0-9C15-6F949578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2606D"/>
                </a:solidFill>
              </a:defRPr>
            </a:pPr>
            <a:r>
              <a:rPr sz="825" b="0" i="0">
                <a:solidFill>
                  <a:srgbClr val="52606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427713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15AF31-E302-4BEC-9D6C-0453ABBE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B6F71"/>
                </a:solidFill>
              </a:defRPr>
            </a:pPr>
            <a:r>
              <a:rPr sz="975" b="1" i="0">
                <a:solidFill>
                  <a:srgbClr val="0B6F71"/>
                </a:solidFill>
              </a:rPr>
              <a:t>ROLLOUT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808D3-F44E-4378-958A-D4DC1162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A43"/>
                </a:solidFill>
              </a:defRPr>
            </a:pPr>
            <a:r>
              <a:rPr sz="3000" b="1" i="0">
                <a:solidFill>
                  <a:srgbClr val="102A43"/>
                </a:solidFill>
              </a:rPr>
              <a:t>The code is present; the default behavior is unchanged.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2755A-1B6D-423C-9CBF-C2CC32BC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This is the most important non-regression rule.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C9855-09EF-4128-A92C-262AEA90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857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3C30C-5941-49A4-BBF4-F1664C99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6F71"/>
                </a:solidFill>
              </a:defRPr>
            </a:pPr>
            <a:r>
              <a:rPr sz="1725" b="1" i="0">
                <a:solidFill>
                  <a:srgbClr val="0B6F71"/>
                </a:solidFill>
              </a:rPr>
              <a:t>TODAY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AF97B-DFDD-4148-B62F-60FA9C2A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44767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</a:defRPr>
            </a:pPr>
            <a:r>
              <a:rPr sz="1350" b="0" i="0">
                <a:solidFill>
                  <a:srgbClr val="102A43"/>
                </a:solidFill>
              </a:rPr>
              <a:t>AI_ORCHESTRATION_ENABLED=false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</a:defRPr>
            </a:pPr>
            <a:r>
              <a:rPr sz="1350" b="0" i="0">
                <a:solidFill>
                  <a:srgbClr val="102A43"/>
                </a:solidFill>
              </a:rPr>
              <a:t>Normal users stay on the current path.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</a:defRPr>
            </a:pPr>
            <a:r>
              <a:rPr sz="1350" b="0" i="0">
                <a:solidFill>
                  <a:srgbClr val="102A43"/>
                </a:solidFill>
              </a:rPr>
              <a:t>Existing approvals and publishing remain authoritative.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89657-0091-400B-921B-5D16F738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95500"/>
            <a:ext cx="4857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2"/>
          </a:solidFill>
          <a:ln xmlns:a="http://schemas.openxmlformats.org/drawingml/2006/main" w="9525">
            <a:solidFill>
              <a:srgbClr val="E8F2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F90B9-C367-4A71-85BC-39F415C9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47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6F71"/>
                </a:solidFill>
              </a:defRPr>
            </a:pPr>
            <a:r>
              <a:rPr sz="1725" b="1" i="0">
                <a:solidFill>
                  <a:srgbClr val="0B6F71"/>
                </a:solidFill>
              </a:rPr>
              <a:t>REVIEWED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28952-4821-4AE6-A156-DC80ED22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09850"/>
            <a:ext cx="44767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</a:defRPr>
            </a:pPr>
            <a:r>
              <a:rPr sz="1350" b="0" i="0">
                <a:solidFill>
                  <a:srgbClr val="102A43"/>
                </a:solidFill>
              </a:rPr>
              <a:t>Enable only for a fictional, allow-listed cohort.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</a:defRPr>
            </a:pPr>
            <a:r>
              <a:rPr sz="1350" b="0" i="0">
                <a:solidFill>
                  <a:srgbClr val="102A43"/>
                </a:solidFill>
              </a:rPr>
              <a:t>Compare validity, citations, latency, cost, and failures.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</a:defRPr>
            </a:pPr>
            <a:r>
              <a:rPr sz="1350" b="0" i="0">
                <a:solidFill>
                  <a:srgbClr val="102A43"/>
                </a:solidFill>
              </a:rPr>
              <a:t>Keep the current path as rollback.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55474-2798-401A-8AEF-32E65E7A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57800"/>
            <a:ext cx="895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FF4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D17DD-7CFE-4ECD-92AD-080CA64F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429250"/>
            <a:ext cx="842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A15C00"/>
                </a:solidFill>
              </a:defRPr>
            </a:pPr>
            <a:r>
              <a:rPr sz="1425" b="1" i="0">
                <a:solidFill>
                  <a:srgbClr val="A15C00"/>
                </a:solidFill>
              </a:rPr>
              <a:t>Still pending: live agentic worker routing, credentialed provider checks, live shadow, and final human review gates.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6FA9B9-B8F0-4094-921D-C9E576E9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06D"/>
                </a:solidFill>
              </a:defRPr>
            </a:pPr>
            <a:r>
              <a:rPr sz="825" b="1" i="0">
                <a:solidFill>
                  <a:srgbClr val="52606D"/>
                </a:solidFill>
              </a:rPr>
              <a:t>MARKETMIND AI  •  ITI CAPSTONE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08601-9A5E-4AD8-9555-5CB7EC49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2606D"/>
                </a:solidFill>
              </a:defRPr>
            </a:pPr>
            <a:r>
              <a:rPr sz="825" b="0" i="0">
                <a:solidFill>
                  <a:srgbClr val="52606D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607818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0C4CA0-1466-421A-AB1B-5DBA32CA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B6F71"/>
                </a:solidFill>
              </a:defRPr>
            </a:pPr>
            <a:r>
              <a:rPr sz="975" b="1" i="0">
                <a:solidFill>
                  <a:srgbClr val="0B6F71"/>
                </a:solidFill>
              </a:rPr>
              <a:t>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96C80-E99F-47B4-AFB7-2BD37339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A43"/>
                </a:solidFill>
              </a:defRPr>
            </a:pPr>
            <a:r>
              <a:rPr sz="3000" b="1" i="0">
                <a:solidFill>
                  <a:srgbClr val="102A43"/>
                </a:solidFill>
              </a:rPr>
              <a:t>Use two local env files: API safety + AI/RAG settings.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37437-F964-4AB9-9D2A-7A5EDA8B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Start with mock mode; add provider keys only for a deliberate live replay.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CD473-EF61-45A7-835C-B73EE420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6F71"/>
                </a:solidFill>
              </a:defRPr>
            </a:pPr>
            <a:r>
              <a:rPr sz="1650" b="1" i="0">
                <a:solidFill>
                  <a:srgbClr val="0B6F71"/>
                </a:solidFill>
              </a:rPr>
              <a:t>apps/api/.env.test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59426-C293-4AB3-AC3B-A105144E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1625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556CD-8EF2-4DD7-8B8A-9EC6A06E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4857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NODE_ENV=test</a:t>
            </a:r>
          </a:p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PORT=3101</a:t>
            </a:r>
          </a:p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DATABASE_URL=postgresql://...:5433/marketmind_e2e_test</a:t>
            </a:r>
          </a:p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REDIS_URL=redis://localhost:6379/15</a:t>
            </a:r>
          </a:p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MAIL_PROVIDER=mock</a:t>
            </a:r>
          </a:p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AI_ORCHESTRATION_ENABLED=false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58037-833D-498A-96D5-8092E022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09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46BFD"/>
                </a:solidFill>
              </a:defRPr>
            </a:pPr>
            <a:r>
              <a:rPr sz="1650" b="1" i="0">
                <a:solidFill>
                  <a:srgbClr val="246BFD"/>
                </a:solidFill>
              </a:rPr>
              <a:t>services/ai/.env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F867E-6A50-4986-8252-6D4423CF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71700"/>
            <a:ext cx="51625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E2EAE2-E65A-4F61-9070-691257B2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95525"/>
            <a:ext cx="4857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AI_PROVIDER_MODE=mock</a:t>
            </a:r>
          </a:p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EMBEDDING_PROVIDER_MODE=fake</a:t>
            </a:r>
          </a:p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RAG_SELECTION_MODE=semantic_mmr</a:t>
            </a:r>
          </a:p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RAG_MMR_LAMBDA=0.5</a:t>
            </a:r>
          </a:p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QDRANT_HOST=localhost</a:t>
            </a:r>
          </a:p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QDRANT_PORT=6333</a:t>
            </a:r>
          </a:p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AI_ORCHESTRATION_TRACE_EXPORTER=none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5B8E0-68BC-4212-BC75-98D0082B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F83CE-4708-4A96-9A5E-693F58D7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2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C205B4-4428-4D66-9A1D-A9F0DA78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76825"/>
            <a:ext cx="1051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npm run check</a:t>
            </a:r>
          </a:p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npm run demo:rehearse</a:t>
            </a:r>
          </a:p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cd services/ai</a:t>
            </a:r>
          </a:p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uv run pytest tests/orchestration -q</a:t>
            </a:r>
          </a:p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uv run pytest tests/test_rag_*.py -q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D36E2-A4EA-4447-BCF0-CE81567D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72200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2606D"/>
                </a:solidFill>
              </a:defRPr>
            </a:pPr>
            <a:r>
              <a:rPr sz="1125" b="0" i="0">
                <a:solidFill>
                  <a:srgbClr val="52606D"/>
                </a:solidFill>
              </a:rPr>
              <a:t>For live RAG: use GEMINI_API_KEY, EMBEDDING_MODEL=gemini-embedding-2, EMBEDDING_DIMENSIONS=768, and the prepared marketing_knowledge_gemini_2_v1 collection.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26095C-9FC0-452B-9721-5594794A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06D"/>
                </a:solidFill>
              </a:defRPr>
            </a:pPr>
            <a:r>
              <a:rPr sz="825" b="1" i="0">
                <a:solidFill>
                  <a:srgbClr val="52606D"/>
                </a:solidFill>
              </a:rPr>
              <a:t>MARKETMIND AI  •  ITI CAPSTONE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0455A-7F6A-44D6-8F49-EB65A6D9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2606D"/>
                </a:solidFill>
              </a:defRPr>
            </a:pPr>
            <a:r>
              <a:rPr sz="825" b="0" i="0">
                <a:solidFill>
                  <a:srgbClr val="52606D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09406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6F7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F0FF6-D7F3-477F-A52C-71E65A2C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954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FFFFFF"/>
                </a:solidFill>
              </a:defRPr>
            </a:pPr>
            <a:r>
              <a:rPr sz="4350" b="1" i="0">
                <a:solidFill>
                  <a:srgbClr val="FFFFFF"/>
                </a:solidFill>
              </a:rPr>
              <a:t>Safe. Grounded. Reviewable.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1F38C-E1C1-4C71-A474-4F3F3A85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2415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0" i="0">
                <a:solidFill>
                  <a:srgbClr val="FFFFFF"/>
                </a:solidFill>
              </a:defRPr>
            </a:pPr>
            <a:r>
              <a:rPr sz="2400" b="0" i="0">
                <a:solidFill>
                  <a:srgbClr val="FFFFFF"/>
                </a:solidFill>
              </a:rPr>
              <a:t>Agentic AI coordinates the journey.</a:t>
            </a:r>
          </a:p>
          <a:p xmlns:a="http://schemas.openxmlformats.org/drawingml/2006/main">
            <a:pPr algn="ctr">
              <a:defRPr sz="2400" b="0" i="0">
                <a:solidFill>
                  <a:srgbClr val="FFFFFF"/>
                </a:solidFill>
              </a:defRPr>
            </a:pPr>
            <a:r>
              <a:rPr sz="2400" b="0" i="0">
                <a:solidFill>
                  <a:srgbClr val="FFFFFF"/>
                </a:solidFill>
              </a:rPr>
              <a:t>RAG supplies trusted evidence.</a:t>
            </a:r>
          </a:p>
          <a:p xmlns:a="http://schemas.openxmlformats.org/drawingml/2006/main">
            <a:pPr algn="ctr">
              <a:defRPr sz="2400" b="0" i="0">
                <a:solidFill>
                  <a:srgbClr val="FFFFFF"/>
                </a:solidFill>
              </a:defRPr>
            </a:pPr>
            <a:r>
              <a:rPr sz="2400" b="0" i="0">
                <a:solidFill>
                  <a:srgbClr val="FFFFFF"/>
                </a:solidFill>
              </a:rPr>
              <a:t>The owner remains in control.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E1A5A-204F-4BDF-912A-012F80F3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704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C8ADD-DE3C-4BC0-BC1B-07A4E39A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Default today: AI_ORCHESTRATION_ENABLED=false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77936-6DF9-42E9-A611-B20487E4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MARKETMIND AI  •  ITI 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3D497-B3EE-42AA-AFE8-BEDAD0F8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316303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2026-08-07T09:24:53.2190000Z</dcterms:created>
  <dcterms:modified xsi:type="dcterms:W3CDTF">2026-08-07T09:24:53.2190000Z</dcterms:modified>
</coreProperties>
</file>